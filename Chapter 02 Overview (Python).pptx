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6858000" cx="9144000"/>
  <p:notesSz cx="6858000" cy="9144000"/>
  <p:embeddedFontLst>
    <p:embeddedFont>
      <p:font typeface="Libre Franklin"/>
      <p:regular r:id="rId61"/>
      <p:bold r:id="rId62"/>
      <p:italic r:id="rId63"/>
      <p:boldItalic r:id="rId64"/>
    </p:embeddedFont>
    <p:embeddedFont>
      <p:font typeface="Libre Baskerville"/>
      <p:regular r:id="rId65"/>
      <p:bold r:id="rId66"/>
      <p: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LibreFranklin-bold.fntdata"/><Relationship Id="rId61" Type="http://schemas.openxmlformats.org/officeDocument/2006/relationships/font" Target="fonts/LibreFranklin-regular.fntdata"/><Relationship Id="rId20" Type="http://schemas.openxmlformats.org/officeDocument/2006/relationships/slide" Target="slides/slide15.xml"/><Relationship Id="rId64" Type="http://schemas.openxmlformats.org/officeDocument/2006/relationships/font" Target="fonts/LibreFranklin-boldItalic.fntdata"/><Relationship Id="rId63" Type="http://schemas.openxmlformats.org/officeDocument/2006/relationships/font" Target="fonts/LibreFranklin-italic.fntdata"/><Relationship Id="rId22" Type="http://schemas.openxmlformats.org/officeDocument/2006/relationships/slide" Target="slides/slide17.xml"/><Relationship Id="rId66" Type="http://schemas.openxmlformats.org/officeDocument/2006/relationships/font" Target="fonts/LibreBaskerville-bold.fntdata"/><Relationship Id="rId21" Type="http://schemas.openxmlformats.org/officeDocument/2006/relationships/slide" Target="slides/slide16.xml"/><Relationship Id="rId65" Type="http://schemas.openxmlformats.org/officeDocument/2006/relationships/font" Target="fonts/LibreBaskerville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schemas.openxmlformats.org/officeDocument/2006/relationships/font" Target="fonts/LibreBaskerville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9" name="Google Shape;10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76293213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6" name="Google Shape;166;g47629321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476293213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764ed4e0b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1" name="Google Shape;221;g4764ed4e0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4764ed4e0b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764ed4e0b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8" name="Google Shape;228;g4764ed4e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4764ed4e0b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4764ed4e0b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5" name="Google Shape;235;g4764ed4e0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4764ed4e0b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764ed4e0b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2" name="Google Shape;242;g4764ed4e0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4764ed4e0b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4762932135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9" name="Google Shape;249;g476293213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4762932135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6" name="Google Shape;2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3" name="Google Shape;2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0" name="Google Shape;27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7" name="Google Shape;2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4" name="Google Shape;28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2" name="Google Shape;2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9" name="Google Shape;2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7" name="Google Shape;3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4" name="Google Shape;31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1" name="Google Shape;32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5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8" name="Google Shape;32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5" name="Google Shape;33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764ed4e0b_0_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2" name="Google Shape;342;g4764ed4e0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4764ed4e0b_0_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9" name="Google Shape;34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60960fef3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6" name="Google Shape;356;g60960fef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60960fef3a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60960fef3a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3" name="Google Shape;363;g60960fef3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60960fef3a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0" name="Google Shape;37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9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7" name="Google Shape;37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0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4" name="Google Shape;38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1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91" name="Google Shape;39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99" name="Google Shape;39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60960fef3a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7" name="Google Shape;407;g60960fef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60960fef3a_0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14" name="Google Shape;41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1" name="Google Shape;42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8" name="Google Shape;42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5" name="Google Shape;43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60960fef3a_0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2" name="Google Shape;442;g60960fef3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60960fef3a_0_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60960fef3a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9" name="Google Shape;449;g60960fef3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60960fef3a_0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60960fef3a_0_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56" name="Google Shape;456;g60960fef3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60960fef3a_0_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3" name="Google Shape;46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0" name="Google Shape;47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60960fef3a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7" name="Google Shape;477;g60960fef3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60960fef3a_0_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84" name="Google Shape;48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91" name="Google Shape;49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75"/>
              </a:spcBef>
              <a:spcAft>
                <a:spcPts val="0"/>
              </a:spcAft>
              <a:buSzPts val="2210"/>
              <a:buNone/>
              <a:defRPr/>
            </a:lvl1pPr>
            <a:lvl2pPr lvl="1" algn="ctr">
              <a:spcBef>
                <a:spcPts val="375"/>
              </a:spcBef>
              <a:spcAft>
                <a:spcPts val="0"/>
              </a:spcAft>
              <a:buSzPts val="2040"/>
              <a:buNone/>
              <a:defRPr/>
            </a:lvl2pPr>
            <a:lvl3pPr lvl="2" algn="ctr">
              <a:spcBef>
                <a:spcPts val="375"/>
              </a:spcBef>
              <a:spcAft>
                <a:spcPts val="0"/>
              </a:spcAft>
              <a:buSzPts val="1700"/>
              <a:buNone/>
              <a:defRPr/>
            </a:lvl3pPr>
            <a:lvl4pPr lvl="3" algn="ctr">
              <a:spcBef>
                <a:spcPts val="375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375"/>
              </a:spcBef>
              <a:spcAft>
                <a:spcPts val="0"/>
              </a:spcAft>
              <a:buSzPts val="2000"/>
              <a:buFont typeface="Libre Baskerville"/>
              <a:buNone/>
              <a:defRPr/>
            </a:lvl5pPr>
            <a:lvl6pPr lvl="5" algn="ctr"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  <a:defRPr/>
            </a:lvl6pPr>
            <a:lvl7pPr lvl="6" algn="ctr"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  <a:defRPr/>
            </a:lvl7pPr>
            <a:lvl8pPr lvl="7" algn="ctr"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  <a:defRPr/>
            </a:lvl8pPr>
            <a:lvl9pPr lvl="8" algn="ctr"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6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75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spcBef>
                <a:spcPts val="375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7"/>
          <p:cNvSpPr/>
          <p:nvPr/>
        </p:nvSpPr>
        <p:spPr>
          <a:xfrm flipH="1" rot="10800000">
            <a:off x="69850" y="2376488"/>
            <a:ext cx="9013825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75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5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5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/>
          <p:nvPr>
            <p:ph idx="12" type="sldNum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5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5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5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5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5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5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0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0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spcBef>
                <a:spcPts val="375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75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/>
        </p:nvSpPr>
        <p:spPr>
          <a:xfrm flipH="1" rot="10800000">
            <a:off x="68263" y="4683125"/>
            <a:ext cx="9007475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69" lvl="1" marL="914400" algn="l">
              <a:spcBef>
                <a:spcPts val="375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spcBef>
                <a:spcPts val="375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19" lvl="3" marL="1828800" algn="l">
              <a:spcBef>
                <a:spcPts val="375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1"/>
          <p:cNvSpPr/>
          <p:nvPr>
            <p:ph idx="2" type="pic"/>
          </p:nvPr>
        </p:nvSpPr>
        <p:spPr>
          <a:xfrm>
            <a:off x="68308" y="66675"/>
            <a:ext cx="9001873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/>
          <p:nvPr>
            <p:ph idx="12" type="sldNum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/>
          <p:nvPr>
            <p:ph type="title"/>
          </p:nvPr>
        </p:nvSpPr>
        <p:spPr>
          <a:xfrm rot="5400000">
            <a:off x="4709477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 rot="5400000">
            <a:off x="769937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3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609600" y="1447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113" name="Google Shape;113;p14"/>
          <p:cNvSpPr txBox="1"/>
          <p:nvPr>
            <p:ph idx="11" type="ftr"/>
          </p:nvPr>
        </p:nvSpPr>
        <p:spPr>
          <a:xfrm>
            <a:off x="914400" y="6172200"/>
            <a:ext cx="746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Galit Shmueli, Peter Bruce and Peter Gedeck 2019     rev 10/17/19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09600" y="4570413"/>
            <a:ext cx="7010400" cy="1169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 Mining for Business Analytics in </a:t>
            </a:r>
            <a:r>
              <a:rPr b="1" lang="en-US" sz="2800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Python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Shmueli, Bruce, </a:t>
            </a:r>
            <a:r>
              <a:rPr b="1" lang="en-US" sz="2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Gedeck</a:t>
            </a:r>
            <a:r>
              <a:rPr b="1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&amp; Patel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Ideas in Data Mining</a:t>
            </a:r>
            <a:endParaRPr/>
          </a:p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914400" y="2057400"/>
            <a:ext cx="77724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Classification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Prediction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Association Rules &amp; Recommenders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Data &amp; Dimension Reduction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Data Exploration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Visualization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Paradigms for Data Mining (variations)</a:t>
            </a:r>
            <a:endParaRPr/>
          </a:p>
        </p:txBody>
      </p:sp>
      <p:sp>
        <p:nvSpPr>
          <p:cNvPr id="128" name="Google Shape;128;p16"/>
          <p:cNvSpPr txBox="1"/>
          <p:nvPr>
            <p:ph idx="1" type="body"/>
          </p:nvPr>
        </p:nvSpPr>
        <p:spPr>
          <a:xfrm>
            <a:off x="685800" y="1524000"/>
            <a:ext cx="77724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SEMMA (from SAS)</a:t>
            </a:r>
            <a:endParaRPr/>
          </a:p>
          <a:p>
            <a:pPr indent="-228599" lvl="1" marL="547688" rtl="0" algn="l">
              <a:spcBef>
                <a:spcPts val="375"/>
              </a:spcBef>
              <a:spcAft>
                <a:spcPts val="0"/>
              </a:spcAft>
              <a:buSzPts val="1530"/>
              <a:buFont typeface="Arial"/>
              <a:buChar char="•"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Sample</a:t>
            </a:r>
            <a:endParaRPr/>
          </a:p>
          <a:p>
            <a:pPr indent="-228599" lvl="1" marL="547688" rtl="0" algn="l">
              <a:spcBef>
                <a:spcPts val="375"/>
              </a:spcBef>
              <a:spcAft>
                <a:spcPts val="0"/>
              </a:spcAft>
              <a:buSzPts val="1530"/>
              <a:buFont typeface="Arial"/>
              <a:buChar char="•"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Explore</a:t>
            </a:r>
            <a:endParaRPr/>
          </a:p>
          <a:p>
            <a:pPr indent="-228599" lvl="1" marL="547688" rtl="0" algn="l">
              <a:spcBef>
                <a:spcPts val="375"/>
              </a:spcBef>
              <a:spcAft>
                <a:spcPts val="0"/>
              </a:spcAft>
              <a:buSzPts val="1530"/>
              <a:buFont typeface="Arial"/>
              <a:buChar char="•"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Modify</a:t>
            </a:r>
            <a:endParaRPr/>
          </a:p>
          <a:p>
            <a:pPr indent="-228599" lvl="1" marL="547688" rtl="0" algn="l">
              <a:spcBef>
                <a:spcPts val="375"/>
              </a:spcBef>
              <a:spcAft>
                <a:spcPts val="0"/>
              </a:spcAft>
              <a:buSzPts val="1530"/>
              <a:buFont typeface="Arial"/>
              <a:buChar char="•"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Model</a:t>
            </a:r>
            <a:endParaRPr/>
          </a:p>
          <a:p>
            <a:pPr indent="-228599" lvl="1" marL="547688" rtl="0" algn="l">
              <a:spcBef>
                <a:spcPts val="375"/>
              </a:spcBef>
              <a:spcAft>
                <a:spcPts val="0"/>
              </a:spcAft>
              <a:buSzPts val="1530"/>
              <a:buFont typeface="Arial"/>
              <a:buChar char="•"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Assess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CRISP-DM  (SPSS/IBM)</a:t>
            </a:r>
            <a:endParaRPr/>
          </a:p>
          <a:p>
            <a:pPr indent="-228599" lvl="1" marL="547688" rtl="0" algn="l">
              <a:spcBef>
                <a:spcPts val="375"/>
              </a:spcBef>
              <a:spcAft>
                <a:spcPts val="0"/>
              </a:spcAft>
              <a:buSzPts val="1530"/>
              <a:buFont typeface="Arial"/>
              <a:buChar char="•"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Business Understanding</a:t>
            </a:r>
            <a:endParaRPr/>
          </a:p>
          <a:p>
            <a:pPr indent="-228599" lvl="1" marL="547688" rtl="0" algn="l">
              <a:spcBef>
                <a:spcPts val="375"/>
              </a:spcBef>
              <a:spcAft>
                <a:spcPts val="0"/>
              </a:spcAft>
              <a:buSzPts val="1530"/>
              <a:buFont typeface="Arial"/>
              <a:buChar char="•"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Data Understanding</a:t>
            </a:r>
            <a:endParaRPr/>
          </a:p>
          <a:p>
            <a:pPr indent="-228599" lvl="1" marL="547688" rtl="0" algn="l">
              <a:spcBef>
                <a:spcPts val="375"/>
              </a:spcBef>
              <a:spcAft>
                <a:spcPts val="0"/>
              </a:spcAft>
              <a:buSzPts val="1530"/>
              <a:buFont typeface="Arial"/>
              <a:buChar char="•"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Data Preparation</a:t>
            </a:r>
            <a:endParaRPr/>
          </a:p>
          <a:p>
            <a:pPr indent="-228599" lvl="1" marL="547688" rtl="0" algn="l">
              <a:spcBef>
                <a:spcPts val="375"/>
              </a:spcBef>
              <a:spcAft>
                <a:spcPts val="0"/>
              </a:spcAft>
              <a:buSzPts val="1530"/>
              <a:buFont typeface="Arial"/>
              <a:buChar char="•"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Modeling</a:t>
            </a:r>
            <a:endParaRPr/>
          </a:p>
          <a:p>
            <a:pPr indent="-228599" lvl="1" marL="547688" rtl="0" algn="l">
              <a:spcBef>
                <a:spcPts val="375"/>
              </a:spcBef>
              <a:spcAft>
                <a:spcPts val="0"/>
              </a:spcAft>
              <a:buSzPts val="1530"/>
              <a:buFont typeface="Arial"/>
              <a:buChar char="•"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Evaluation</a:t>
            </a:r>
            <a:endParaRPr/>
          </a:p>
          <a:p>
            <a:pPr indent="-228599" lvl="1" marL="547688" rtl="0" algn="l">
              <a:spcBef>
                <a:spcPts val="375"/>
              </a:spcBef>
              <a:spcAft>
                <a:spcPts val="0"/>
              </a:spcAft>
              <a:buSzPts val="1530"/>
              <a:buFont typeface="Arial"/>
              <a:buChar char="•"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Deployment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1700"/>
              <a:buFont typeface="Noto Sans Symbols"/>
              <a:buNone/>
            </a:pPr>
            <a:r>
              <a:t/>
            </a:r>
            <a:endParaRPr sz="2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Supervised Learning</a:t>
            </a:r>
            <a:endParaRPr/>
          </a:p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>
            <a:off x="838200" y="1828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Goal: Predict a single “target” or “outcome” variable 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Training data, where target value is known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Score to data where value is not known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Methods: Classification and Prediction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Unsupervised Learning</a:t>
            </a:r>
            <a:endParaRPr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914400" y="2057400"/>
            <a:ext cx="77724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Goal: Segment data into meaningful segments; detect patterns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There is no target (outcome) variable to predict or classify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Methods: Association rules, collaborative filters, data reduction &amp; exploration, visualization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Supervised: Classification</a:t>
            </a:r>
            <a:endParaRPr/>
          </a:p>
        </p:txBody>
      </p:sp>
      <p:sp>
        <p:nvSpPr>
          <p:cNvPr id="149" name="Google Shape;149;p19"/>
          <p:cNvSpPr txBox="1"/>
          <p:nvPr>
            <p:ph idx="1" type="body"/>
          </p:nvPr>
        </p:nvSpPr>
        <p:spPr>
          <a:xfrm>
            <a:off x="9144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Goal: Predict categorical target (outcome) variable 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Examples: Purchase/no purchase, fraud/no fraud, creditworthy/not creditworthy…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Each row is a case (customer, tax return, applicant)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Each column is a variable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Target variable is often binary (yes/no)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Supervised: Prediction</a:t>
            </a:r>
            <a:endParaRPr/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914400" y="16764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Goal: Predict numerical target (outcome) variable 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Examples: sales, revenue, performance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As in classification: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Each row is a case (customer, tax return, applicant)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Each column is a variable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Taken together, classification and prediction constitute “predictive analytics”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Unsupervised: Association Rules</a:t>
            </a:r>
            <a:endParaRPr/>
          </a:p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914400" y="1600200"/>
            <a:ext cx="8001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Goal: Produce rules that define “what goes with what” in transactions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Example: “If X was purchased, Y was also purchased”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Rows are transactions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Used in recommender systems – “Our records show you bought X, you may also like Y”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Also called “affinity analysis”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Unsupervised: Collaborative Filtering</a:t>
            </a:r>
            <a:endParaRPr/>
          </a:p>
        </p:txBody>
      </p:sp>
      <p:sp>
        <p:nvSpPr>
          <p:cNvPr id="170" name="Google Shape;170;p22"/>
          <p:cNvSpPr txBox="1"/>
          <p:nvPr>
            <p:ph idx="1" type="body"/>
          </p:nvPr>
        </p:nvSpPr>
        <p:spPr>
          <a:xfrm>
            <a:off x="914400" y="1934450"/>
            <a:ext cx="8001000" cy="4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Goal: Recommend products to purchase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Based on products that customer rates, selects, views, or purchases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Recommend products that “customers like you” purchase (user-based)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Or, recommend products that share a “product purchaser profile” with your purchases (item-based)</a:t>
            </a:r>
            <a:endParaRPr/>
          </a:p>
          <a:p>
            <a:pPr indent="0" lvl="0" marL="140335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Unsupervised: Data Reduction</a:t>
            </a:r>
            <a:endParaRPr/>
          </a:p>
        </p:txBody>
      </p:sp>
      <p:sp>
        <p:nvSpPr>
          <p:cNvPr id="177" name="Google Shape;177;p23"/>
          <p:cNvSpPr txBox="1"/>
          <p:nvPr>
            <p:ph idx="1" type="body"/>
          </p:nvPr>
        </p:nvSpPr>
        <p:spPr>
          <a:xfrm>
            <a:off x="914400" y="18288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Distillation of complex/large data into simpler/smaller data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Reducing the number of variables/columns (e.g., principal components)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Reducing the number of records/rows (e.g., clustering)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Unsupervised: Data Visualization</a:t>
            </a:r>
            <a:endParaRPr/>
          </a:p>
        </p:txBody>
      </p: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914400" y="2400125"/>
            <a:ext cx="7772400" cy="3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Graphs and plots of data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Histograms, boxplots, bar charts, scatterplots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Especially useful to examine relationships between pairs of variables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Exploration</a:t>
            </a:r>
            <a:endParaRPr/>
          </a:p>
        </p:txBody>
      </p:sp>
      <p:sp>
        <p:nvSpPr>
          <p:cNvPr id="191" name="Google Shape;191;p25"/>
          <p:cNvSpPr txBox="1"/>
          <p:nvPr>
            <p:ph idx="1" type="body"/>
          </p:nvPr>
        </p:nvSpPr>
        <p:spPr>
          <a:xfrm>
            <a:off x="914400" y="2057400"/>
            <a:ext cx="77724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Data sets are typically large, complex &amp; messy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Need to review the data to help refine the task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Use techniques of Reduction and Visualization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Process of Data Mining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 in Data Mining</a:t>
            </a:r>
            <a:endParaRPr/>
          </a:p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914400" y="1676400"/>
            <a:ext cx="777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10"/>
              <a:buFont typeface="Libre Franklin"/>
              <a:buAutoNum type="arabicPeriod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Define/understand purpose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210"/>
              <a:buFont typeface="Libre Franklin"/>
              <a:buAutoNum type="arabicPeriod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Obtain data (may involve random sampling)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210"/>
              <a:buFont typeface="Libre Franklin"/>
              <a:buAutoNum type="arabicPeriod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Explore, clean, pre-process data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210"/>
              <a:buFont typeface="Libre Franklin"/>
              <a:buAutoNum type="arabicPeriod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Reduce the data; if supervised DM, partition it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210"/>
              <a:buFont typeface="Libre Franklin"/>
              <a:buAutoNum type="arabicPeriod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Specify task (classification, clustering, etc.)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210"/>
              <a:buFont typeface="Libre Franklin"/>
              <a:buAutoNum type="arabicPeriod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Choose the techniques (regression, CART, neural networks, etc.)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210"/>
              <a:buFont typeface="Libre Franklin"/>
              <a:buAutoNum type="arabicPeriod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Iterative implementation and “tuning”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210"/>
              <a:buFont typeface="Libre Franklin"/>
              <a:buAutoNum type="arabicPeriod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Assess results – compare models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210"/>
              <a:buFont typeface="Libre Franklin"/>
              <a:buAutoNum type="arabicPeriod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Deploy best model</a:t>
            </a:r>
            <a:endParaRPr/>
          </a:p>
          <a:p>
            <a:pPr indent="-374015" lvl="0" marL="5143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210"/>
              <a:buFont typeface="Libre Franklin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838200" y="76200"/>
            <a:ext cx="7772400" cy="86836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Preliminary Exploration in Python</a:t>
            </a:r>
            <a:br>
              <a:rPr lang="en-US" sz="3200"/>
            </a:br>
            <a:r>
              <a:rPr lang="en-US" sz="2000"/>
              <a:t>loading data, viewing it, summary statistics</a:t>
            </a:r>
            <a:endParaRPr/>
          </a:p>
        </p:txBody>
      </p:sp>
      <p:sp>
        <p:nvSpPr>
          <p:cNvPr id="211" name="Google Shape;211;p28"/>
          <p:cNvSpPr txBox="1"/>
          <p:nvPr/>
        </p:nvSpPr>
        <p:spPr>
          <a:xfrm>
            <a:off x="466150" y="1200675"/>
            <a:ext cx="8144400" cy="52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1.  Open Anaconda-Navigator and launch a ‘jupyter’ notebook. It opens a new browser window. 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2.  Navigate to the directory where your csv file is saved and open a new Python notebook.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Load data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 = pd.read_csv('WestRoxbury.csv')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housing_df.shape #find dimension of data frame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housing_df.head()  #show the 1st five rows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print(housing_df)  #show all the data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901700" y="109550"/>
            <a:ext cx="77724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Data Exploration in Python, cont.</a:t>
            </a:r>
            <a:r>
              <a:rPr lang="en-US"/>
              <a:t>	</a:t>
            </a:r>
            <a:endParaRPr/>
          </a:p>
        </p:txBody>
      </p:sp>
      <p:sp>
        <p:nvSpPr>
          <p:cNvPr id="218" name="Google Shape;218;p29"/>
          <p:cNvSpPr txBox="1"/>
          <p:nvPr>
            <p:ph idx="1" type="body"/>
          </p:nvPr>
        </p:nvSpPr>
        <p:spPr>
          <a:xfrm>
            <a:off x="162300" y="928550"/>
            <a:ext cx="8819400" cy="51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Rename columns: replace spaces with '_'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 = housing_df.rename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(columns={'TOTAL VALUE ': 'TOTAL_VALUE'})    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# explicit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housing_df.columns = [s.strip().replace(' ',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'_') for s in housing_df.columns] # all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columns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Show first four rows of the data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housing_df.loc[0:3] 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# loc[a:b] gives rows a to b, inclusive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housing_df.iloc[0:4] 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# iloc[a:b] gives rows a to b-1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901700" y="109550"/>
            <a:ext cx="77724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Data Exploration in Python, cont.</a:t>
            </a:r>
            <a:r>
              <a:rPr lang="en-US"/>
              <a:t>	</a:t>
            </a:r>
            <a:endParaRPr/>
          </a:p>
        </p:txBody>
      </p:sp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86100" y="852350"/>
            <a:ext cx="8819400" cy="4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Different ways of showing the first 10 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values in column TOTAL_VALUE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housing_df['TOTAL_VALUE'].iloc[0:10]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housing_df.iloc[0:10]['TOTAL_VALUE']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housing_df.iloc[0:10].TOTAL_VALUE  # use dot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notation if the column name has no spaces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Show the fifth row of the first 10 columns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housing_df.iloc[4][0:10]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housing_df.iloc[4, 0:10]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housing_df.iloc[4:5, 0:10]  # use a slice to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return a data frame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type="title"/>
          </p:nvPr>
        </p:nvSpPr>
        <p:spPr>
          <a:xfrm>
            <a:off x="901700" y="109550"/>
            <a:ext cx="77724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Data Exploration in Python, cont.</a:t>
            </a:r>
            <a:r>
              <a:rPr lang="en-US"/>
              <a:t>	</a:t>
            </a:r>
            <a:endParaRPr/>
          </a:p>
        </p:txBody>
      </p:sp>
      <p:sp>
        <p:nvSpPr>
          <p:cNvPr id="232" name="Google Shape;232;p31"/>
          <p:cNvSpPr txBox="1"/>
          <p:nvPr>
            <p:ph idx="1" type="body"/>
          </p:nvPr>
        </p:nvSpPr>
        <p:spPr>
          <a:xfrm>
            <a:off x="162300" y="852350"/>
            <a:ext cx="8819400" cy="53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Use pd.concat to combine non-consecutive 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columns into a new data frame. Axis 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argument specifies dimension along which 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concatenation happens, 0=rows, 1=columns.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pd.concat([housing_df.iloc[4:6,0:2], housing_df.iloc[4:6,4:6]], axis=1)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To specify a full column, use: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housing.iloc[:,0:1]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housing.TOTAL_VALUE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housing_df['TOTAL_VALUE'][0:10]  # show the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first 10 rows of the first column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>
            <p:ph type="title"/>
          </p:nvPr>
        </p:nvSpPr>
        <p:spPr>
          <a:xfrm>
            <a:off x="901700" y="109550"/>
            <a:ext cx="77724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Data Exploration in Python, cont.</a:t>
            </a:r>
            <a:r>
              <a:rPr lang="en-US"/>
              <a:t>	</a:t>
            </a:r>
            <a:endParaRPr/>
          </a:p>
        </p:txBody>
      </p:sp>
      <p:sp>
        <p:nvSpPr>
          <p:cNvPr id="239" name="Google Shape;239;p32"/>
          <p:cNvSpPr txBox="1"/>
          <p:nvPr>
            <p:ph idx="1" type="body"/>
          </p:nvPr>
        </p:nvSpPr>
        <p:spPr>
          <a:xfrm>
            <a:off x="98800" y="1398450"/>
            <a:ext cx="8819400" cy="53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Descriptive statistics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print('Number of rows ', len(housing_df['TOTAL_VALUE'])) # show length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of first column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print('Mean of TOTAL_VALUE ', housing_df['TOTAL_VALUE'].mean()) # show mean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of column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housing_df.describe() # show summary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statistics for each column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/>
          <p:nvPr>
            <p:ph type="title"/>
          </p:nvPr>
        </p:nvSpPr>
        <p:spPr>
          <a:xfrm>
            <a:off x="901700" y="109550"/>
            <a:ext cx="77724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Import Needed Functionality</a:t>
            </a:r>
            <a:r>
              <a:rPr lang="en-US"/>
              <a:t>	</a:t>
            </a:r>
            <a:endParaRPr/>
          </a:p>
        </p:txBody>
      </p:sp>
      <p:sp>
        <p:nvSpPr>
          <p:cNvPr id="246" name="Google Shape;246;p33"/>
          <p:cNvSpPr txBox="1"/>
          <p:nvPr>
            <p:ph idx="1" type="body"/>
          </p:nvPr>
        </p:nvSpPr>
        <p:spPr>
          <a:xfrm>
            <a:off x="98800" y="1398450"/>
            <a:ext cx="8819400" cy="53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import pandas as pd # repeating - we did this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earlier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from sklearn.model_selection import train_test_split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from sklearn.metrics import r2_score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from sklearn.linear_model import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LinearRegression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The abbreviations </a:t>
            </a:r>
            <a:r>
              <a:rPr i="1" lang="en-US" sz="2400">
                <a:latin typeface="Libre Franklin"/>
                <a:ea typeface="Libre Franklin"/>
                <a:cs typeface="Libre Franklin"/>
                <a:sym typeface="Libre Franklin"/>
              </a:rPr>
              <a:t>pd</a:t>
            </a: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, </a:t>
            </a:r>
            <a:r>
              <a:rPr i="1" lang="en-US" sz="2400">
                <a:latin typeface="Libre Franklin"/>
                <a:ea typeface="Libre Franklin"/>
                <a:cs typeface="Libre Franklin"/>
                <a:sym typeface="Libre Franklin"/>
              </a:rPr>
              <a:t>np</a:t>
            </a: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, and</a:t>
            </a:r>
            <a:r>
              <a:rPr i="1" lang="en-US" sz="2400">
                <a:latin typeface="Libre Franklin"/>
                <a:ea typeface="Libre Franklin"/>
                <a:cs typeface="Libre Franklin"/>
                <a:sym typeface="Libre Franklin"/>
              </a:rPr>
              <a:t> sm</a:t>
            </a: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 are commonly used in the data science community.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Obtaining Data: Sampling	</a:t>
            </a:r>
            <a:endParaRPr/>
          </a:p>
        </p:txBody>
      </p:sp>
      <p:sp>
        <p:nvSpPr>
          <p:cNvPr id="253" name="Google Shape;253;p34"/>
          <p:cNvSpPr txBox="1"/>
          <p:nvPr>
            <p:ph idx="1" type="body"/>
          </p:nvPr>
        </p:nvSpPr>
        <p:spPr>
          <a:xfrm>
            <a:off x="9144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Data mining typically deals with huge databases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For piloting/prototyping, algorithms and models are typically applied to a sample from a database, to produce statistically-valid results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Once you develop and select a final model, you use it to “score” (predict values or classes for) the observations in the larger database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Rare Event Oversampling</a:t>
            </a:r>
            <a:endParaRPr/>
          </a:p>
        </p:txBody>
      </p:sp>
      <p:sp>
        <p:nvSpPr>
          <p:cNvPr id="260" name="Google Shape;260;p35"/>
          <p:cNvSpPr txBox="1"/>
          <p:nvPr>
            <p:ph idx="1" type="body"/>
          </p:nvPr>
        </p:nvSpPr>
        <p:spPr>
          <a:xfrm>
            <a:off x="9144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Often the event of interest is rare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Examples: response to mailing, fraud in taxes, …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Sampling may yield too few “interesting” cases to effectively train a model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A popular solution: oversample the rare cases to obtain a more balanced training set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Later, need to adjust results for the oversampling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type="title"/>
          </p:nvPr>
        </p:nvSpPr>
        <p:spPr>
          <a:xfrm>
            <a:off x="914400" y="274638"/>
            <a:ext cx="7772400" cy="9445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Sampling &amp; Oversampling	</a:t>
            </a:r>
            <a:endParaRPr/>
          </a:p>
        </p:txBody>
      </p:sp>
      <p:sp>
        <p:nvSpPr>
          <p:cNvPr id="267" name="Google Shape;267;p36"/>
          <p:cNvSpPr txBox="1"/>
          <p:nvPr/>
        </p:nvSpPr>
        <p:spPr>
          <a:xfrm>
            <a:off x="368300" y="1219200"/>
            <a:ext cx="8382300" cy="52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random sample of 5 observations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housing_df.sample(5)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oversample houses with over 10 rooms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weights = [0.9 if rooms &gt; 10 else 0.01 for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rooms in housing_df.ROOMS]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housing_df.sample(5, weights=weights)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of Variables</a:t>
            </a:r>
            <a:endParaRPr/>
          </a:p>
        </p:txBody>
      </p:sp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914400" y="1752600"/>
            <a:ext cx="777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Libre Franklin"/>
                <a:ea typeface="Libre Franklin"/>
                <a:cs typeface="Libre Franklin"/>
                <a:sym typeface="Libre Franklin"/>
              </a:rPr>
              <a:t>Determine the types of pre-processing needed, and algorithms used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Libre Franklin"/>
                <a:ea typeface="Libre Franklin"/>
                <a:cs typeface="Libre Franklin"/>
                <a:sym typeface="Libre Franklin"/>
              </a:rPr>
              <a:t>Main distinction: Categorical vs. numeric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Numeric</a:t>
            </a:r>
            <a:endParaRPr/>
          </a:p>
          <a:p>
            <a:pPr indent="-228600" lvl="1" marL="547688" rtl="0" algn="l">
              <a:spcBef>
                <a:spcPts val="375"/>
              </a:spcBef>
              <a:spcAft>
                <a:spcPts val="0"/>
              </a:spcAft>
              <a:buSzPts val="204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Continuous</a:t>
            </a:r>
            <a:endParaRPr/>
          </a:p>
          <a:p>
            <a:pPr indent="-228600" lvl="1" marL="547688" rtl="0" algn="l">
              <a:spcBef>
                <a:spcPts val="375"/>
              </a:spcBef>
              <a:spcAft>
                <a:spcPts val="0"/>
              </a:spcAft>
              <a:buSzPts val="204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Integer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380"/>
              <a:buChar char="⚫"/>
            </a:pPr>
            <a:r>
              <a:rPr lang="en-US" sz="2800">
                <a:latin typeface="Libre Franklin"/>
                <a:ea typeface="Libre Franklin"/>
                <a:cs typeface="Libre Franklin"/>
                <a:sym typeface="Libre Franklin"/>
              </a:rPr>
              <a:t>Categorical</a:t>
            </a:r>
            <a:endParaRPr/>
          </a:p>
          <a:p>
            <a:pPr indent="-228600" lvl="1" marL="547688" rtl="0" algn="l">
              <a:spcBef>
                <a:spcPts val="375"/>
              </a:spcBef>
              <a:spcAft>
                <a:spcPts val="0"/>
              </a:spcAft>
              <a:buSzPts val="204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Ordered (low, medium, high)</a:t>
            </a:r>
            <a:endParaRPr/>
          </a:p>
          <a:p>
            <a:pPr indent="-228600" lvl="1" marL="547688" rtl="0" algn="l">
              <a:spcBef>
                <a:spcPts val="375"/>
              </a:spcBef>
              <a:spcAft>
                <a:spcPts val="0"/>
              </a:spcAft>
              <a:buSzPts val="204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Unordered (male, female)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Variable handling</a:t>
            </a:r>
            <a:endParaRPr/>
          </a:p>
        </p:txBody>
      </p:sp>
      <p:sp>
        <p:nvSpPr>
          <p:cNvPr id="281" name="Google Shape;281;p38"/>
          <p:cNvSpPr txBox="1"/>
          <p:nvPr>
            <p:ph idx="1" type="body"/>
          </p:nvPr>
        </p:nvSpPr>
        <p:spPr>
          <a:xfrm>
            <a:off x="914400" y="1752600"/>
            <a:ext cx="777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Numeric</a:t>
            </a:r>
            <a:endParaRPr/>
          </a:p>
          <a:p>
            <a:pPr indent="-228600" lvl="1" marL="547688" rtl="0" algn="l">
              <a:spcBef>
                <a:spcPts val="375"/>
              </a:spcBef>
              <a:spcAft>
                <a:spcPts val="0"/>
              </a:spcAft>
              <a:buSzPts val="204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Most algorithms can handle numeric data</a:t>
            </a:r>
            <a:endParaRPr/>
          </a:p>
          <a:p>
            <a:pPr indent="-228600" lvl="1" marL="547688" rtl="0" algn="l">
              <a:spcBef>
                <a:spcPts val="375"/>
              </a:spcBef>
              <a:spcAft>
                <a:spcPts val="0"/>
              </a:spcAft>
              <a:buSzPts val="204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May occasionally need to “bin” into categories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Categorical</a:t>
            </a:r>
            <a:endParaRPr/>
          </a:p>
          <a:p>
            <a:pPr indent="-228600" lvl="1" marL="547688" rtl="0" algn="l">
              <a:spcBef>
                <a:spcPts val="375"/>
              </a:spcBef>
              <a:spcAft>
                <a:spcPts val="0"/>
              </a:spcAft>
              <a:buSzPts val="204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Naïve Bayes can use as-is</a:t>
            </a:r>
            <a:endParaRPr/>
          </a:p>
          <a:p>
            <a:pPr indent="-228600" lvl="1" marL="547688" rtl="0" algn="l">
              <a:spcBef>
                <a:spcPts val="375"/>
              </a:spcBef>
              <a:spcAft>
                <a:spcPts val="0"/>
              </a:spcAft>
              <a:buSzPts val="204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In most other algorithms, must create binary dummies (number of dummies = number of categories – 1) [see Table 2.6 for R code]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/>
          <p:nvPr>
            <p:ph type="title"/>
          </p:nvPr>
        </p:nvSpPr>
        <p:spPr>
          <a:xfrm>
            <a:off x="914400" y="274647"/>
            <a:ext cx="77724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Reviewing Variables </a:t>
            </a:r>
            <a:endParaRPr/>
          </a:p>
        </p:txBody>
      </p:sp>
      <p:sp>
        <p:nvSpPr>
          <p:cNvPr id="288" name="Google Shape;288;p39"/>
          <p:cNvSpPr txBox="1"/>
          <p:nvPr/>
        </p:nvSpPr>
        <p:spPr>
          <a:xfrm>
            <a:off x="850900" y="5905500"/>
            <a:ext cx="33528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on next slide…</a:t>
            </a:r>
            <a:endParaRPr/>
          </a:p>
        </p:txBody>
      </p:sp>
      <p:sp>
        <p:nvSpPr>
          <p:cNvPr id="289" name="Google Shape;289;p39"/>
          <p:cNvSpPr txBox="1"/>
          <p:nvPr/>
        </p:nvSpPr>
        <p:spPr>
          <a:xfrm>
            <a:off x="317400" y="1461650"/>
            <a:ext cx="83694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housing_df.columns  # print a list of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variables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# REMODEL needs to be converted to a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categorical variable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housing_df.REMODEL = housing_df.REMODEL.astype('category')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housing_df.REMODEL.cat.categories  # Show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number of categories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housing_df.REMODEL.dtype  # Check type of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converted variable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/>
          <p:nvPr>
            <p:ph type="title"/>
          </p:nvPr>
        </p:nvSpPr>
        <p:spPr>
          <a:xfrm>
            <a:off x="914400" y="274638"/>
            <a:ext cx="77724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Partial output of code on previous slide</a:t>
            </a:r>
            <a:endParaRPr/>
          </a:p>
        </p:txBody>
      </p:sp>
      <p:sp>
        <p:nvSpPr>
          <p:cNvPr id="296" name="Google Shape;296;p40"/>
          <p:cNvSpPr txBox="1"/>
          <p:nvPr/>
        </p:nvSpPr>
        <p:spPr>
          <a:xfrm>
            <a:off x="101900" y="1143000"/>
            <a:ext cx="8915400" cy="52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&gt; housing_df.columns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Index(['TOTAL_VALUE', 'TAX', 'LOT_SQFT',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'YR_BUILT', 'GROSS_AREA','LIVING_AREA',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'FLOORS', 'ROOMS', 'BEDROOMS', 'FULL_BATH',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'HALF_BATH','KITCHEN', 'FIREPLACE',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'REMODEL'], dtype='object')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&gt; housing_df.REMODEL.cat.categories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Index(['None', 'Old', 'Recent'], dtype='object')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&gt; housing_df.REMODEL.dtype category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1"/>
          <p:cNvSpPr txBox="1"/>
          <p:nvPr>
            <p:ph type="title"/>
          </p:nvPr>
        </p:nvSpPr>
        <p:spPr>
          <a:xfrm>
            <a:off x="914400" y="274638"/>
            <a:ext cx="77724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Creating binary dummies</a:t>
            </a:r>
            <a:endParaRPr/>
          </a:p>
        </p:txBody>
      </p:sp>
      <p:sp>
        <p:nvSpPr>
          <p:cNvPr id="303" name="Google Shape;303;p41"/>
          <p:cNvSpPr txBox="1"/>
          <p:nvPr/>
        </p:nvSpPr>
        <p:spPr>
          <a:xfrm>
            <a:off x="914400" y="5867400"/>
            <a:ext cx="35814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on next slide…</a:t>
            </a:r>
            <a:endParaRPr/>
          </a:p>
        </p:txBody>
      </p:sp>
      <p:sp>
        <p:nvSpPr>
          <p:cNvPr id="304" name="Google Shape;304;p41"/>
          <p:cNvSpPr txBox="1"/>
          <p:nvPr/>
        </p:nvSpPr>
        <p:spPr>
          <a:xfrm>
            <a:off x="208725" y="1370400"/>
            <a:ext cx="87165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# use drop_first=True to drop the first dummy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variable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 = pd.get_dummies(housing_df,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prefix_sep='_', drop_first=True)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housing_df.columns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housing_df.loc[:,'REMODEL_Old':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'REMODEL_Recent'].head(5)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 txBox="1"/>
          <p:nvPr>
            <p:ph type="title"/>
          </p:nvPr>
        </p:nvSpPr>
        <p:spPr>
          <a:xfrm>
            <a:off x="914400" y="274638"/>
            <a:ext cx="77724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Creating Binary Dummies – Output</a:t>
            </a:r>
            <a:endParaRPr/>
          </a:p>
        </p:txBody>
      </p:sp>
      <p:sp>
        <p:nvSpPr>
          <p:cNvPr id="311" name="Google Shape;311;p42"/>
          <p:cNvSpPr txBox="1"/>
          <p:nvPr/>
        </p:nvSpPr>
        <p:spPr>
          <a:xfrm>
            <a:off x="793800" y="1778000"/>
            <a:ext cx="7556400" cy="3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REMODEL_Old  REMODEL_Recent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0            0               0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1            0               1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2            0               0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3            0               0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4            0               0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Detecting Outliers</a:t>
            </a:r>
            <a:endParaRPr/>
          </a:p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914400" y="19050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An outlier is an observation that is “extreme”, being distant from the rest of the data (definition of “distant” is deliberately vague)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Outliers can have disproportionate influence on models (a problem if it is spurious)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An important step in data pre-processing is detecting outliers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Once detected, domain knowledge is required to determine if it is an error, or truly extreme.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/>
          <p:cNvSpPr txBox="1"/>
          <p:nvPr>
            <p:ph idx="4294967295"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Detecting Outliers</a:t>
            </a:r>
            <a:endParaRPr/>
          </a:p>
        </p:txBody>
      </p:sp>
      <p:sp>
        <p:nvSpPr>
          <p:cNvPr id="325" name="Google Shape;325;p44"/>
          <p:cNvSpPr txBox="1"/>
          <p:nvPr>
            <p:ph idx="4294967295" type="body"/>
          </p:nvPr>
        </p:nvSpPr>
        <p:spPr>
          <a:xfrm>
            <a:off x="914400" y="18288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In some contexts, finding outliers is the purpose of the DM exercise (airport security screening). This is called “anomaly detection”.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Handling Missing Data</a:t>
            </a:r>
            <a:endParaRPr/>
          </a:p>
        </p:txBody>
      </p:sp>
      <p:sp>
        <p:nvSpPr>
          <p:cNvPr id="332" name="Google Shape;332;p4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Most algorithms will not process records with missing values. Default is to drop those records.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Solution 1: Omission</a:t>
            </a:r>
            <a:endParaRPr/>
          </a:p>
          <a:p>
            <a:pPr indent="-285750" lvl="1" marL="742950" rtl="0" algn="l">
              <a:spcBef>
                <a:spcPts val="375"/>
              </a:spcBef>
              <a:spcAft>
                <a:spcPts val="0"/>
              </a:spcAft>
              <a:buSzPts val="1700"/>
              <a:buChar char="⚫"/>
            </a:pPr>
            <a:r>
              <a:rPr lang="en-US" sz="2000">
                <a:latin typeface="Libre Franklin"/>
                <a:ea typeface="Libre Franklin"/>
                <a:cs typeface="Libre Franklin"/>
                <a:sym typeface="Libre Franklin"/>
              </a:rPr>
              <a:t>If a small number of records have missing values, can omit them</a:t>
            </a:r>
            <a:endParaRPr/>
          </a:p>
          <a:p>
            <a:pPr indent="-285750" lvl="1" marL="742950" rtl="0" algn="l">
              <a:spcBef>
                <a:spcPts val="375"/>
              </a:spcBef>
              <a:spcAft>
                <a:spcPts val="0"/>
              </a:spcAft>
              <a:buSzPts val="1700"/>
              <a:buChar char="⚫"/>
            </a:pPr>
            <a:r>
              <a:rPr lang="en-US" sz="2000">
                <a:latin typeface="Libre Franklin"/>
                <a:ea typeface="Libre Franklin"/>
                <a:cs typeface="Libre Franklin"/>
                <a:sym typeface="Libre Franklin"/>
              </a:rPr>
              <a:t>If many records are missing values on a small set of variables, can drop those variables (or use proxies)</a:t>
            </a:r>
            <a:endParaRPr/>
          </a:p>
          <a:p>
            <a:pPr indent="-285750" lvl="1" marL="742950" rtl="0" algn="l">
              <a:spcBef>
                <a:spcPts val="375"/>
              </a:spcBef>
              <a:spcAft>
                <a:spcPts val="0"/>
              </a:spcAft>
              <a:buSzPts val="1700"/>
              <a:buChar char="⚫"/>
            </a:pPr>
            <a:r>
              <a:rPr lang="en-US" sz="2000">
                <a:latin typeface="Libre Franklin"/>
                <a:ea typeface="Libre Franklin"/>
                <a:cs typeface="Libre Franklin"/>
                <a:sym typeface="Libre Franklin"/>
              </a:rPr>
              <a:t>If many records have missing values, omission is not practical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Solution 2: Imputation </a:t>
            </a:r>
            <a:endParaRPr/>
          </a:p>
          <a:p>
            <a:pPr indent="-285750" lvl="1" marL="742950" rtl="0" algn="l">
              <a:spcBef>
                <a:spcPts val="375"/>
              </a:spcBef>
              <a:spcAft>
                <a:spcPts val="0"/>
              </a:spcAft>
              <a:buSzPts val="1700"/>
              <a:buChar char="⚫"/>
            </a:pPr>
            <a:r>
              <a:rPr lang="en-US" sz="2000">
                <a:latin typeface="Libre Franklin"/>
                <a:ea typeface="Libre Franklin"/>
                <a:cs typeface="Libre Franklin"/>
                <a:sym typeface="Libre Franklin"/>
              </a:rPr>
              <a:t>Replace missing values with reasonable substitutes</a:t>
            </a:r>
            <a:endParaRPr/>
          </a:p>
          <a:p>
            <a:pPr indent="-285750" lvl="1" marL="742950" rtl="0" algn="l">
              <a:spcBef>
                <a:spcPts val="375"/>
              </a:spcBef>
              <a:spcAft>
                <a:spcPts val="0"/>
              </a:spcAft>
              <a:buSzPts val="1700"/>
              <a:buChar char="⚫"/>
            </a:pPr>
            <a:r>
              <a:rPr lang="en-US" sz="2000">
                <a:latin typeface="Libre Franklin"/>
                <a:ea typeface="Libre Franklin"/>
                <a:cs typeface="Libre Franklin"/>
                <a:sym typeface="Libre Franklin"/>
              </a:rPr>
              <a:t>Lets you keep the record and use the rest of its (non-missing) information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6"/>
          <p:cNvSpPr txBox="1"/>
          <p:nvPr>
            <p:ph type="title"/>
          </p:nvPr>
        </p:nvSpPr>
        <p:spPr>
          <a:xfrm>
            <a:off x="609600" y="274638"/>
            <a:ext cx="80772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Replacing Missing Data with Median</a:t>
            </a:r>
            <a:endParaRPr/>
          </a:p>
        </p:txBody>
      </p:sp>
      <p:sp>
        <p:nvSpPr>
          <p:cNvPr id="339" name="Google Shape;339;p46"/>
          <p:cNvSpPr txBox="1"/>
          <p:nvPr/>
        </p:nvSpPr>
        <p:spPr>
          <a:xfrm>
            <a:off x="215900" y="990600"/>
            <a:ext cx="8737800" cy="54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# To illustrate missing data procedures, we first convert a few entries for  bedrooms to NA's. Then we impute these missing values using the median of the remaining values.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missingRows = housing_df.sample(10).index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housing_df.loc[missingRows, 'BEDROOMS'] = np.nan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print('Number of rows with valid BEDROOMS values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after setting to NAN: ',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housing_df['BEDROOMS'].count())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# remove rows with missing values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reduced_df = housing_df.dropna()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print('Number of rows after removing rows with missing values: ', len(reduced_df))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 txBox="1"/>
          <p:nvPr>
            <p:ph type="title"/>
          </p:nvPr>
        </p:nvSpPr>
        <p:spPr>
          <a:xfrm>
            <a:off x="215900" y="274650"/>
            <a:ext cx="8737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Replacing Missing Data with Median, cont.l</a:t>
            </a:r>
            <a:endParaRPr/>
          </a:p>
        </p:txBody>
      </p:sp>
      <p:sp>
        <p:nvSpPr>
          <p:cNvPr id="346" name="Google Shape;346;p47"/>
          <p:cNvSpPr txBox="1"/>
          <p:nvPr/>
        </p:nvSpPr>
        <p:spPr>
          <a:xfrm>
            <a:off x="215900" y="990600"/>
            <a:ext cx="8737800" cy="54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# To illustrate missing data procedures, we first convert a few entries for  bedrooms to NA's. Then we impute these missing values using the median of the remaining values.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# replace the missing values using the median of 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the remaining values.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medianBedrooms = housing_df['BEDROOMS'].median()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housing_df.BEDROOMS =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housing_df.BEDROOMS.fillna(value=medianBedrooms)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print('Number of rows with valid BEDROOMS values after filling NA values: ',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housing_df['BEDROOMS'].count())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Normalizing (Standardizing) Data	</a:t>
            </a:r>
            <a:endParaRPr/>
          </a:p>
        </p:txBody>
      </p:sp>
      <p:sp>
        <p:nvSpPr>
          <p:cNvPr id="353" name="Google Shape;353;p48"/>
          <p:cNvSpPr txBox="1"/>
          <p:nvPr>
            <p:ph idx="1" type="body"/>
          </p:nvPr>
        </p:nvSpPr>
        <p:spPr>
          <a:xfrm>
            <a:off x="914400" y="1600200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Used in some techniques when variables with the largest scales would dominate and skew results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Puts all variables on same scale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Normalizing function: Subtract mean and divide by standard deviation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Alternative function: scale to 0-1 by subtracting minimum and dividing by the range</a:t>
            </a:r>
            <a:endParaRPr/>
          </a:p>
          <a:p>
            <a:pPr indent="-285750" lvl="1" marL="742950" rtl="0" algn="l">
              <a:spcBef>
                <a:spcPts val="375"/>
              </a:spcBef>
              <a:spcAft>
                <a:spcPts val="0"/>
              </a:spcAft>
              <a:buSzPts val="1870"/>
              <a:buChar char="⚫"/>
            </a:pPr>
            <a:r>
              <a:rPr lang="en-US" sz="2200">
                <a:latin typeface="Libre Franklin"/>
                <a:ea typeface="Libre Franklin"/>
                <a:cs typeface="Libre Franklin"/>
                <a:sym typeface="Libre Franklin"/>
              </a:rPr>
              <a:t>Useful when the data contain dummies and numeric</a:t>
            </a:r>
            <a:br>
              <a:rPr lang="en-US" sz="2200">
                <a:latin typeface="Libre Franklin"/>
                <a:ea typeface="Libre Franklin"/>
                <a:cs typeface="Libre Franklin"/>
                <a:sym typeface="Libre Franklin"/>
              </a:rPr>
            </a:br>
            <a:endParaRPr sz="2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/>
          <p:nvPr>
            <p:ph type="title"/>
          </p:nvPr>
        </p:nvSpPr>
        <p:spPr>
          <a:xfrm>
            <a:off x="914400" y="274645"/>
            <a:ext cx="77724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Code for </a:t>
            </a:r>
            <a:r>
              <a:rPr lang="en-US" sz="3400"/>
              <a:t>Normalizing Data	</a:t>
            </a:r>
            <a:endParaRPr sz="3400"/>
          </a:p>
        </p:txBody>
      </p:sp>
      <p:sp>
        <p:nvSpPr>
          <p:cNvPr id="360" name="Google Shape;360;p49"/>
          <p:cNvSpPr txBox="1"/>
          <p:nvPr/>
        </p:nvSpPr>
        <p:spPr>
          <a:xfrm>
            <a:off x="243450" y="999500"/>
            <a:ext cx="8657100" cy="5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from sklearn.preprocessing import MinMaxScaler, StandardScaler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df = housing_df.copy()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# pandas: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norm_df = (housing_df - housing_df.mean()) /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 housing_df.std()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# scikit-learn: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scaler = StandardScaler()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norm_df = pd.DataFrame(scaler.fit_transform(housing_df),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index=housing_df.index,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columns=housing_df.columns)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# the result of the transformation is a numpy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array, we convert it into a dataframe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0"/>
          <p:cNvSpPr txBox="1"/>
          <p:nvPr>
            <p:ph type="title"/>
          </p:nvPr>
        </p:nvSpPr>
        <p:spPr>
          <a:xfrm>
            <a:off x="914400" y="274645"/>
            <a:ext cx="77724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Code for Normalizing Data, cont.	</a:t>
            </a:r>
            <a:endParaRPr sz="3400"/>
          </a:p>
        </p:txBody>
      </p:sp>
      <p:sp>
        <p:nvSpPr>
          <p:cNvPr id="367" name="Google Shape;367;p50"/>
          <p:cNvSpPr txBox="1"/>
          <p:nvPr/>
        </p:nvSpPr>
        <p:spPr>
          <a:xfrm>
            <a:off x="243450" y="999500"/>
            <a:ext cx="8657100" cy="5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# Rescaling a data frame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# pandas: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norm_df = (housing_df - housing_df.min()) /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(housing_df.max() - housing_df.min())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# scikit-learn: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scaler = MinMaxScaler()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norm_df = pd.DataFrame(scaler.fit_transform(housing_df),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index=housing_df.index,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columns=housing_df.columns)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1"/>
          <p:cNvSpPr txBox="1"/>
          <p:nvPr>
            <p:ph idx="4294967295"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The Problem of Overfitting</a:t>
            </a:r>
            <a:endParaRPr/>
          </a:p>
        </p:txBody>
      </p:sp>
      <p:sp>
        <p:nvSpPr>
          <p:cNvPr id="374" name="Google Shape;374;p51"/>
          <p:cNvSpPr txBox="1"/>
          <p:nvPr>
            <p:ph idx="4294967295" type="body"/>
          </p:nvPr>
        </p:nvSpPr>
        <p:spPr>
          <a:xfrm>
            <a:off x="914400" y="18288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Statistical models can produce highly complex explanations of relationships between variables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The “fit” may be excellent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Char char="⚫"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When used with </a:t>
            </a:r>
            <a:r>
              <a:rPr lang="en-US" u="sng">
                <a:latin typeface="Libre Franklin"/>
                <a:ea typeface="Libre Franklin"/>
                <a:cs typeface="Libre Franklin"/>
                <a:sym typeface="Libre Franklin"/>
              </a:rPr>
              <a:t>new</a:t>
            </a: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 data, models of great complexity do not do so well.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"/>
          <p:cNvSpPr txBox="1"/>
          <p:nvPr>
            <p:ph idx="4294967295"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100% fit – not useful for </a:t>
            </a:r>
            <a:r>
              <a:rPr lang="en-US" u="sng"/>
              <a:t>new</a:t>
            </a:r>
            <a:r>
              <a:rPr lang="en-US"/>
              <a:t> data</a:t>
            </a:r>
            <a:endParaRPr/>
          </a:p>
        </p:txBody>
      </p:sp>
      <p:pic>
        <p:nvPicPr>
          <p:cNvPr id="381" name="Google Shape;38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3"/>
          <p:cNvSpPr txBox="1"/>
          <p:nvPr>
            <p:ph idx="4294967295"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Overfitting (cont.)</a:t>
            </a:r>
            <a:endParaRPr/>
          </a:p>
        </p:txBody>
      </p:sp>
      <p:sp>
        <p:nvSpPr>
          <p:cNvPr id="388" name="Google Shape;388;p53"/>
          <p:cNvSpPr txBox="1"/>
          <p:nvPr>
            <p:ph idx="4294967295" type="body"/>
          </p:nvPr>
        </p:nvSpPr>
        <p:spPr>
          <a:xfrm>
            <a:off x="914400" y="18288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Causes:</a:t>
            </a:r>
            <a:endParaRPr/>
          </a:p>
          <a:p>
            <a:pPr indent="-285750" lvl="1" marL="742950" rtl="0" algn="l">
              <a:spcBef>
                <a:spcPts val="375"/>
              </a:spcBef>
              <a:spcAft>
                <a:spcPts val="0"/>
              </a:spcAft>
              <a:buSzPts val="1870"/>
              <a:buChar char="⚫"/>
            </a:pPr>
            <a:r>
              <a:rPr lang="en-US" sz="2200">
                <a:latin typeface="Libre Franklin"/>
                <a:ea typeface="Libre Franklin"/>
                <a:cs typeface="Libre Franklin"/>
                <a:sym typeface="Libre Franklin"/>
              </a:rPr>
              <a:t>Too many predictors</a:t>
            </a:r>
            <a:endParaRPr/>
          </a:p>
          <a:p>
            <a:pPr indent="-285750" lvl="1" marL="742950" rtl="0" algn="l">
              <a:spcBef>
                <a:spcPts val="375"/>
              </a:spcBef>
              <a:spcAft>
                <a:spcPts val="0"/>
              </a:spcAft>
              <a:buSzPts val="1870"/>
              <a:buChar char="⚫"/>
            </a:pPr>
            <a:r>
              <a:rPr lang="en-US" sz="2200">
                <a:latin typeface="Libre Franklin"/>
                <a:ea typeface="Libre Franklin"/>
                <a:cs typeface="Libre Franklin"/>
                <a:sym typeface="Libre Franklin"/>
              </a:rPr>
              <a:t>A model with too many parameters </a:t>
            </a:r>
            <a:endParaRPr/>
          </a:p>
          <a:p>
            <a:pPr indent="-285750" lvl="1" marL="742950" rtl="0" algn="l">
              <a:spcBef>
                <a:spcPts val="375"/>
              </a:spcBef>
              <a:spcAft>
                <a:spcPts val="0"/>
              </a:spcAft>
              <a:buSzPts val="1870"/>
              <a:buChar char="⚫"/>
            </a:pPr>
            <a:r>
              <a:rPr lang="en-US" sz="2200">
                <a:latin typeface="Libre Franklin"/>
                <a:ea typeface="Libre Franklin"/>
                <a:cs typeface="Libre Franklin"/>
                <a:sym typeface="Libre Franklin"/>
              </a:rPr>
              <a:t>Trying many different models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575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Consequence:  Deployed model will not work as well as expected with completely new data.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Partitioning the Data</a:t>
            </a:r>
            <a:endParaRPr/>
          </a:p>
        </p:txBody>
      </p:sp>
      <p:sp>
        <p:nvSpPr>
          <p:cNvPr id="395" name="Google Shape;395;p54"/>
          <p:cNvSpPr txBox="1"/>
          <p:nvPr>
            <p:ph idx="1" type="body"/>
          </p:nvPr>
        </p:nvSpPr>
        <p:spPr>
          <a:xfrm>
            <a:off x="914400" y="1600200"/>
            <a:ext cx="56388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Problem: How well will our model perform with new data?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Solution:  Separate data into two parts </a:t>
            </a:r>
            <a:endParaRPr/>
          </a:p>
          <a:p>
            <a:pPr indent="-228600" lvl="1" marL="547688" rtl="0" algn="l">
              <a:spcBef>
                <a:spcPts val="375"/>
              </a:spcBef>
              <a:spcAft>
                <a:spcPts val="0"/>
              </a:spcAft>
              <a:buSzPts val="2040"/>
              <a:buChar char="⚫"/>
            </a:pPr>
            <a:r>
              <a:rPr lang="en-US" u="sng">
                <a:latin typeface="Libre Franklin"/>
                <a:ea typeface="Libre Franklin"/>
                <a:cs typeface="Libre Franklin"/>
                <a:sym typeface="Libre Franklin"/>
              </a:rPr>
              <a:t>Training</a:t>
            </a: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 partition to develop the model</a:t>
            </a:r>
            <a:endParaRPr/>
          </a:p>
          <a:p>
            <a:pPr indent="-228600" lvl="1" marL="547688" rtl="0" algn="l">
              <a:spcBef>
                <a:spcPts val="375"/>
              </a:spcBef>
              <a:spcAft>
                <a:spcPts val="0"/>
              </a:spcAft>
              <a:buSzPts val="2040"/>
              <a:buChar char="⚫"/>
            </a:pPr>
            <a:r>
              <a:rPr lang="en-US" u="sng">
                <a:latin typeface="Libre Franklin"/>
                <a:ea typeface="Libre Franklin"/>
                <a:cs typeface="Libre Franklin"/>
                <a:sym typeface="Libre Franklin"/>
              </a:rPr>
              <a:t>Validation</a:t>
            </a: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 partition to implement the model and evaluate its performance on “new” data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Addresses the issue of overfitting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96" name="Google Shape;39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3813" y="1600200"/>
            <a:ext cx="2619375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1650" y="1447800"/>
            <a:ext cx="221615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5"/>
          <p:cNvSpPr txBox="1"/>
          <p:nvPr>
            <p:ph type="title"/>
          </p:nvPr>
        </p:nvSpPr>
        <p:spPr>
          <a:xfrm>
            <a:off x="914400" y="274645"/>
            <a:ext cx="7772400" cy="70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Partition	</a:t>
            </a:r>
            <a:endParaRPr/>
          </a:p>
        </p:txBody>
      </p:sp>
      <p:sp>
        <p:nvSpPr>
          <p:cNvPr id="404" name="Google Shape;404;p55"/>
          <p:cNvSpPr txBox="1"/>
          <p:nvPr>
            <p:ph idx="1" type="body"/>
          </p:nvPr>
        </p:nvSpPr>
        <p:spPr>
          <a:xfrm>
            <a:off x="516850" y="1291975"/>
            <a:ext cx="6248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115" lvl="0" marL="273050" rtl="0" algn="l">
              <a:spcBef>
                <a:spcPts val="0"/>
              </a:spcBef>
              <a:spcAft>
                <a:spcPts val="0"/>
              </a:spcAft>
              <a:buSzPts val="2400"/>
              <a:buChar char="⚫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When a model is developed on </a:t>
            </a:r>
            <a:r>
              <a:rPr b="1" lang="en-US" sz="2400">
                <a:latin typeface="Libre Franklin"/>
                <a:ea typeface="Libre Franklin"/>
                <a:cs typeface="Libre Franklin"/>
                <a:sym typeface="Libre Franklin"/>
              </a:rPr>
              <a:t>training data</a:t>
            </a: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, it can overfit the training data (hence need to assess on validation)</a:t>
            </a:r>
            <a:endParaRPr sz="2400"/>
          </a:p>
          <a:p>
            <a:pPr indent="-285115" lvl="0" marL="273050" rtl="0" algn="l">
              <a:spcBef>
                <a:spcPts val="575"/>
              </a:spcBef>
              <a:spcAft>
                <a:spcPts val="0"/>
              </a:spcAft>
              <a:buSzPts val="2400"/>
              <a:buChar char="⚫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Assessing multiple models on same </a:t>
            </a:r>
            <a:r>
              <a:rPr b="1" lang="en-US" sz="2400">
                <a:latin typeface="Libre Franklin"/>
                <a:ea typeface="Libre Franklin"/>
                <a:cs typeface="Libre Franklin"/>
                <a:sym typeface="Libre Franklin"/>
              </a:rPr>
              <a:t>validation data </a:t>
            </a: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can overfit validation data</a:t>
            </a:r>
            <a:endParaRPr sz="2400"/>
          </a:p>
          <a:p>
            <a:pPr indent="-285115" lvl="0" marL="273050" rtl="0" algn="l">
              <a:spcBef>
                <a:spcPts val="575"/>
              </a:spcBef>
              <a:spcAft>
                <a:spcPts val="0"/>
              </a:spcAft>
              <a:buSzPts val="2400"/>
              <a:buChar char="⚫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Some methods use the validation data to choose a parameter. This too can lead to overfitting the validation data </a:t>
            </a:r>
            <a:endParaRPr sz="2400"/>
          </a:p>
          <a:p>
            <a:pPr indent="-285115" lvl="0" marL="273050" rtl="0" algn="l">
              <a:spcBef>
                <a:spcPts val="575"/>
              </a:spcBef>
              <a:spcAft>
                <a:spcPts val="0"/>
              </a:spcAft>
              <a:buSzPts val="2400"/>
              <a:buChar char="⚫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Solution: final selected model is applied to a </a:t>
            </a:r>
            <a:r>
              <a:rPr b="1" lang="en-US" sz="2400" u="sng">
                <a:latin typeface="Libre Franklin"/>
                <a:ea typeface="Libre Franklin"/>
                <a:cs typeface="Libre Franklin"/>
                <a:sym typeface="Libre Franklin"/>
              </a:rPr>
              <a:t>test</a:t>
            </a:r>
            <a:r>
              <a:rPr b="1" lang="en-US" sz="2400">
                <a:latin typeface="Libre Franklin"/>
                <a:ea typeface="Libre Franklin"/>
                <a:cs typeface="Libre Franklin"/>
                <a:sym typeface="Libre Franklin"/>
              </a:rPr>
              <a:t> partition </a:t>
            </a: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to give unbiased estimate of its performance on new data </a:t>
            </a:r>
            <a:endParaRPr sz="2400"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6"/>
          <p:cNvSpPr txBox="1"/>
          <p:nvPr>
            <p:ph type="title"/>
          </p:nvPr>
        </p:nvSpPr>
        <p:spPr>
          <a:xfrm>
            <a:off x="914400" y="274645"/>
            <a:ext cx="7772400" cy="70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</a:t>
            </a:r>
            <a:r>
              <a:rPr lang="en-US"/>
              <a:t>Test” Partition	 - Terminology</a:t>
            </a:r>
            <a:endParaRPr/>
          </a:p>
        </p:txBody>
      </p:sp>
      <p:sp>
        <p:nvSpPr>
          <p:cNvPr id="411" name="Google Shape;411;p56"/>
          <p:cNvSpPr txBox="1"/>
          <p:nvPr/>
        </p:nvSpPr>
        <p:spPr>
          <a:xfrm>
            <a:off x="665925" y="1471000"/>
            <a:ext cx="7354800" cy="3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ibre Franklin"/>
              <a:buChar char="●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In </a:t>
            </a:r>
            <a:r>
              <a:rPr i="1" lang="en-US" sz="2400">
                <a:latin typeface="Libre Franklin"/>
                <a:ea typeface="Libre Franklin"/>
                <a:cs typeface="Libre Franklin"/>
                <a:sym typeface="Libre Franklin"/>
              </a:rPr>
              <a:t>Data Mining for Business Analytics</a:t>
            </a: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, the “test” partition is the third partition for unbiased assessment.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ibre Franklin"/>
              <a:buChar char="●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More generally in data science, and in Python syntax, “test” refers to the partition set aside from the training partition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7"/>
          <p:cNvSpPr txBox="1"/>
          <p:nvPr>
            <p:ph type="title"/>
          </p:nvPr>
        </p:nvSpPr>
        <p:spPr>
          <a:xfrm>
            <a:off x="884575" y="145413"/>
            <a:ext cx="77724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Partitioning the Data</a:t>
            </a:r>
            <a:endParaRPr/>
          </a:p>
        </p:txBody>
      </p:sp>
      <p:sp>
        <p:nvSpPr>
          <p:cNvPr id="418" name="Google Shape;418;p57"/>
          <p:cNvSpPr txBox="1"/>
          <p:nvPr/>
        </p:nvSpPr>
        <p:spPr>
          <a:xfrm>
            <a:off x="198775" y="949800"/>
            <a:ext cx="8776200" cy="56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# set random_state for reproducibility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# training (60%) and validation (40%)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trainData, validData = train_test_split(housing_df,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test_size=0.40, random_state=1)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# produces 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Training: 3481  Validation: 2321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# training (50%), validation (30%), and test (20%)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trainData, temp = train_test_split(housing_df, test_size=0.5, random_state=1)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# now split </a:t>
            </a:r>
            <a:r>
              <a:rPr i="1" lang="en-US" sz="2200">
                <a:latin typeface="Courier New"/>
                <a:ea typeface="Courier New"/>
                <a:cs typeface="Courier New"/>
                <a:sym typeface="Courier New"/>
              </a:rPr>
              <a:t>temp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into validation and test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validData, testData = train_test_split(temp, test_size=0.4, random_state=1)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# produces  Training:  2901  Validation:  1741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Test:  1160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8"/>
          <p:cNvSpPr txBox="1"/>
          <p:nvPr>
            <p:ph type="title"/>
          </p:nvPr>
        </p:nvSpPr>
        <p:spPr>
          <a:xfrm>
            <a:off x="914400" y="274638"/>
            <a:ext cx="77724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Cross Validation</a:t>
            </a:r>
            <a:endParaRPr/>
          </a:p>
        </p:txBody>
      </p:sp>
      <p:sp>
        <p:nvSpPr>
          <p:cNvPr id="425" name="Google Shape;425;p58"/>
          <p:cNvSpPr txBox="1"/>
          <p:nvPr/>
        </p:nvSpPr>
        <p:spPr>
          <a:xfrm>
            <a:off x="576475" y="1262275"/>
            <a:ext cx="78222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Franklin"/>
              <a:buChar char="●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Repeated partitioning = cross-validation (“cv”)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Franklin"/>
              <a:buChar char="●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k-fold cross validation,  e.g. k=5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Franklin"/>
              <a:buChar char="○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For each fold, set aside ⅕ of data as validation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Franklin"/>
              <a:buChar char="○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Use full remainder as training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Franklin"/>
              <a:buChar char="○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The validation folds are non-overlapping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Franklin"/>
              <a:buChar char="●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In Python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Franklin"/>
              <a:buChar char="○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cross\_val\_score()</a:t>
            </a: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Franklin"/>
              <a:buChar char="○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more general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cross\_validate</a:t>
            </a: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Franklin"/>
              <a:buChar char="○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argument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cv</a:t>
            </a: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 determines the number of folds</a:t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9"/>
          <p:cNvSpPr txBox="1"/>
          <p:nvPr>
            <p:ph type="title"/>
          </p:nvPr>
        </p:nvSpPr>
        <p:spPr>
          <a:xfrm>
            <a:off x="9144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/>
            </a:br>
            <a:r>
              <a:rPr lang="en-US" sz="3600"/>
              <a:t>Example – Linear Regression</a:t>
            </a:r>
            <a:br>
              <a:rPr lang="en-US" sz="3600"/>
            </a:br>
            <a:r>
              <a:rPr lang="en-US" sz="3600"/>
              <a:t>West Roxbury Housing Data</a:t>
            </a:r>
            <a:endParaRPr sz="3600"/>
          </a:p>
        </p:txBody>
      </p:sp>
      <p:pic>
        <p:nvPicPr>
          <p:cNvPr id="432" name="Google Shape;43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676400"/>
            <a:ext cx="6124575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0"/>
          <p:cNvSpPr txBox="1"/>
          <p:nvPr>
            <p:ph type="title"/>
          </p:nvPr>
        </p:nvSpPr>
        <p:spPr>
          <a:xfrm>
            <a:off x="914400" y="274638"/>
            <a:ext cx="77724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Data Prep</a:t>
            </a:r>
            <a:endParaRPr/>
          </a:p>
        </p:txBody>
      </p:sp>
      <p:sp>
        <p:nvSpPr>
          <p:cNvPr id="439" name="Google Shape;439;p60"/>
          <p:cNvSpPr txBox="1"/>
          <p:nvPr/>
        </p:nvSpPr>
        <p:spPr>
          <a:xfrm>
            <a:off x="228600" y="1437875"/>
            <a:ext cx="8686800" cy="25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# data loading and preprocessing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housing_df = pd.read_csv('WestRoxbury.csv')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housing_df.columns = [s.strip().replace(' ', '_')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for s in housing_df.columns]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housing_df = pd.get_dummies(housing_df,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prefix_sep='_', drop_first=True)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# create list of predictors and outcome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excludeColumns = ('TOTAL_VALUE', 'TAX')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predictors = [s for s in housing_df.columns if s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not in excludeColumns]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outcome = 'TOTAL_VALUE'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1"/>
          <p:cNvSpPr txBox="1"/>
          <p:nvPr>
            <p:ph type="title"/>
          </p:nvPr>
        </p:nvSpPr>
        <p:spPr>
          <a:xfrm>
            <a:off x="914400" y="274638"/>
            <a:ext cx="77724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Data Partitioning</a:t>
            </a:r>
            <a:endParaRPr/>
          </a:p>
        </p:txBody>
      </p:sp>
      <p:sp>
        <p:nvSpPr>
          <p:cNvPr id="446" name="Google Shape;446;p61"/>
          <p:cNvSpPr txBox="1"/>
          <p:nvPr/>
        </p:nvSpPr>
        <p:spPr>
          <a:xfrm>
            <a:off x="228600" y="1825500"/>
            <a:ext cx="8686800" cy="25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# partition data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X = housing_df[predictors]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y = housing_df[outcome]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train_X, valid_X, train_y, valid_y =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train_test_split(X, y, test_size=0.4, 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random_state=1)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2"/>
          <p:cNvSpPr txBox="1"/>
          <p:nvPr>
            <p:ph type="title"/>
          </p:nvPr>
        </p:nvSpPr>
        <p:spPr>
          <a:xfrm>
            <a:off x="533400" y="254775"/>
            <a:ext cx="84582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Fit Model and Make Predictions (Training Data) </a:t>
            </a:r>
            <a:endParaRPr/>
          </a:p>
        </p:txBody>
      </p:sp>
      <p:sp>
        <p:nvSpPr>
          <p:cNvPr id="453" name="Google Shape;453;p62"/>
          <p:cNvSpPr txBox="1"/>
          <p:nvPr/>
        </p:nvSpPr>
        <p:spPr>
          <a:xfrm>
            <a:off x="304800" y="990600"/>
            <a:ext cx="8686800" cy="25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 = LinearRegression()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model.fit(train_X, train_y)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train_pred = model.predict(train_X)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train_results = pd.DataFrame({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'TOTAL_VALUE': train_y, 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'predicted': train_pred, 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'residual': train_y - train_pred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show sample of predictions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train_results.head()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3"/>
          <p:cNvSpPr txBox="1"/>
          <p:nvPr>
            <p:ph type="title"/>
          </p:nvPr>
        </p:nvSpPr>
        <p:spPr>
          <a:xfrm>
            <a:off x="2663675" y="254775"/>
            <a:ext cx="63279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Sample Output</a:t>
            </a:r>
            <a:r>
              <a:rPr lang="en-US" sz="2800"/>
              <a:t> </a:t>
            </a:r>
            <a:endParaRPr/>
          </a:p>
        </p:txBody>
      </p:sp>
      <p:sp>
        <p:nvSpPr>
          <p:cNvPr id="460" name="Google Shape;460;p63"/>
          <p:cNvSpPr txBox="1"/>
          <p:nvPr/>
        </p:nvSpPr>
        <p:spPr>
          <a:xfrm>
            <a:off x="732175" y="2372150"/>
            <a:ext cx="8686800" cy="25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TOTAL_VALUE   predicted   residual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2024        392.0  387.726258   4.273742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5140        476.3  430.785540  45.514460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5259        367.4  384.042952 -16.642952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421         350.3  369.005551 -18.705551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1401        348.1  314.725722  33.374278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4"/>
          <p:cNvSpPr txBox="1"/>
          <p:nvPr>
            <p:ph type="title"/>
          </p:nvPr>
        </p:nvSpPr>
        <p:spPr>
          <a:xfrm>
            <a:off x="914400" y="274638"/>
            <a:ext cx="77724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Scoring the validation data</a:t>
            </a:r>
            <a:endParaRPr/>
          </a:p>
        </p:txBody>
      </p:sp>
      <p:sp>
        <p:nvSpPr>
          <p:cNvPr id="467" name="Google Shape;467;p64"/>
          <p:cNvSpPr txBox="1"/>
          <p:nvPr/>
        </p:nvSpPr>
        <p:spPr>
          <a:xfrm>
            <a:off x="427375" y="1212575"/>
            <a:ext cx="8319000" cy="53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valid_pred = model.predict(valid_X)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valid_results = pd.DataFrame({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 'TOTAL_VALUE': valid_y,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 'predicted': valid_pred,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 'residual': valid_y - valid_pred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valid_results.head()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     TOTAL_VALUE   predicted   residual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1822        462.0  406.946377  55.053623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1998        370.4  362.888928   7.511072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5126        407.4  390.287208  17.112792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808         316.1  382.470203 -66.370203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4034        393.2  434.334998 -41.134998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5"/>
          <p:cNvSpPr txBox="1"/>
          <p:nvPr>
            <p:ph type="title"/>
          </p:nvPr>
        </p:nvSpPr>
        <p:spPr>
          <a:xfrm>
            <a:off x="2007700" y="274650"/>
            <a:ext cx="66792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Assess Accuracy</a:t>
            </a:r>
            <a:endParaRPr/>
          </a:p>
        </p:txBody>
      </p:sp>
      <p:sp>
        <p:nvSpPr>
          <p:cNvPr id="474" name="Google Shape;474;p65"/>
          <p:cNvSpPr txBox="1"/>
          <p:nvPr/>
        </p:nvSpPr>
        <p:spPr>
          <a:xfrm>
            <a:off x="248475" y="1466650"/>
            <a:ext cx="8305800" cy="43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import the utility function regressionSummary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from dmba import regressionSummary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training set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regressionSummary(train_results.TOTAL_VALUE, 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train_results.predicted)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validation set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regressionSummary(valid_results.TOTAL_VALUE, valid_results.predicted)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6"/>
          <p:cNvSpPr txBox="1"/>
          <p:nvPr>
            <p:ph type="title"/>
          </p:nvPr>
        </p:nvSpPr>
        <p:spPr>
          <a:xfrm>
            <a:off x="2007700" y="274650"/>
            <a:ext cx="66792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Assess Accuracy - Output</a:t>
            </a:r>
            <a:endParaRPr/>
          </a:p>
        </p:txBody>
      </p:sp>
      <p:sp>
        <p:nvSpPr>
          <p:cNvPr id="481" name="Google Shape;481;p66"/>
          <p:cNvSpPr txBox="1"/>
          <p:nvPr/>
        </p:nvSpPr>
        <p:spPr>
          <a:xfrm>
            <a:off x="248475" y="1049325"/>
            <a:ext cx="8305800" cy="48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Regression statistics  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(training)</a:t>
            </a:r>
            <a:endParaRPr sz="2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Mean Error (ME) : -0.0000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Root Mean Squared Error (RMSE) : 43.0306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Mean Absolute Error (MAE) : 32.6042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Mean Percentage Error (MPE) : -1.1116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Mean Absolute Percentage Error (MAPE) : 8.4886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Regression statistics </a:t>
            </a:r>
            <a:r>
              <a:rPr lang="en-US" sz="2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(validation)</a:t>
            </a:r>
            <a:endParaRPr sz="2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Mean Error (ME) : -0.1463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Root Mean Squared Error (RMSE) : 42.7292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Mean Absolute Error (MAE) : 31.9663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Mean Percentage Error (MPE) : -1.0884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Mean Absolute Percentage Error (MAPE) : 8.3283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 metrics</a:t>
            </a:r>
            <a:endParaRPr/>
          </a:p>
        </p:txBody>
      </p:sp>
      <p:sp>
        <p:nvSpPr>
          <p:cNvPr id="488" name="Google Shape;488;p67"/>
          <p:cNvSpPr txBox="1"/>
          <p:nvPr>
            <p:ph idx="1" type="body"/>
          </p:nvPr>
        </p:nvSpPr>
        <p:spPr>
          <a:xfrm>
            <a:off x="914400" y="18288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Error = actual – predicted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ME = Mean error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RMSE = Root-mean-squared error = Square root of average squared error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MAE = Mean absolute error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MPE = Pean percentage error</a:t>
            </a:r>
            <a:endParaRPr/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MAPE = Mean absolute percentage error</a:t>
            </a:r>
            <a:endParaRPr/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32715" lvl="0" marL="273050" rtl="0" algn="l"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73050" lvl="0" marL="273050" rtl="0" algn="l">
              <a:spcBef>
                <a:spcPts val="575"/>
              </a:spcBef>
              <a:spcAft>
                <a:spcPts val="0"/>
              </a:spcAft>
              <a:buSzPts val="2210"/>
              <a:buFont typeface="Noto Sans Symbols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495" name="Google Shape;495;p68"/>
          <p:cNvSpPr txBox="1"/>
          <p:nvPr>
            <p:ph idx="1" type="body"/>
          </p:nvPr>
        </p:nvSpPr>
        <p:spPr>
          <a:xfrm>
            <a:off x="914400" y="16002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⚫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Data mining consists of supervised methods (Classification &amp; Prediction) and unsupervised methods (Association Rules, Data Reduction, Data Exploration &amp; Visualization)</a:t>
            </a:r>
            <a:endParaRPr/>
          </a:p>
          <a:p>
            <a:pPr indent="-273050" lvl="0" marL="2730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040"/>
              <a:buChar char="⚫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Before algorithms can be applied, data must be explored and pre-processed</a:t>
            </a:r>
            <a:endParaRPr/>
          </a:p>
          <a:p>
            <a:pPr indent="-273050" lvl="0" marL="2730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040"/>
              <a:buChar char="⚫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To evaluate performance and to avoid overfitting, data partitioning is used</a:t>
            </a:r>
            <a:endParaRPr/>
          </a:p>
          <a:p>
            <a:pPr indent="-273050" lvl="0" marL="2730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040"/>
              <a:buChar char="⚫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Models are fit to the training partition and assessed on the validation and test partitions</a:t>
            </a:r>
            <a:endParaRPr/>
          </a:p>
          <a:p>
            <a:pPr indent="-273050" lvl="0" marL="2730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040"/>
              <a:buChar char="⚫"/>
            </a:pPr>
            <a:r>
              <a:rPr lang="en-US" sz="2400">
                <a:latin typeface="Libre Franklin"/>
                <a:ea typeface="Libre Franklin"/>
                <a:cs typeface="Libre Franklin"/>
                <a:sym typeface="Libre Franklin"/>
              </a:rPr>
              <a:t>Data mining methods are usually applied to a sample from a large database, and then the best model is used to score the entire database</a:t>
            </a:r>
            <a:endParaRPr/>
          </a:p>
          <a:p>
            <a:pPr indent="-132715" lvl="0" marL="273050" rtl="0" algn="l">
              <a:lnSpc>
                <a:spcPct val="90000"/>
              </a:lnSpc>
              <a:spcBef>
                <a:spcPts val="575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